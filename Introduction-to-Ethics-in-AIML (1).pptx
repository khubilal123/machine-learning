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Garamond" panose="02020404030301010803" pitchFamily="18" charset="0"/>
      <p:regular r:id="rId15"/>
      <p:bold r:id="rId16"/>
      <p:italic r:id="rId17"/>
    </p:embeddedFont>
    <p:embeddedFont>
      <p:font typeface="Source Sans 3" panose="020B0604020202020204" charset="0"/>
      <p:regular r:id="rId18"/>
    </p:embeddedFont>
    <p:embeddedFont>
      <p:font typeface="Source Serif 4 Semi Bold" panose="020B060402020202020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46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0321" y="0"/>
            <a:ext cx="14677392" cy="8227457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0327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996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4112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496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4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spcBef>
                <a:spcPts val="806"/>
              </a:spcBef>
              <a:spcAft>
                <a:spcPts val="720"/>
              </a:spcAft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4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12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4044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1497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744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004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4150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7610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508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740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1507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30143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800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5859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419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212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889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308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008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539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6551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753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1784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8883" y="0"/>
            <a:ext cx="14675954" cy="8227457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G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04E5-35AD-8710-5EBF-11BA81E5B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presentation on Ethics of AI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E397C-0A38-4060-00CF-98F1C2267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By </a:t>
            </a:r>
          </a:p>
          <a:p>
            <a:r>
              <a:rPr lang="en-US" dirty="0"/>
              <a:t>Khubilal Javat</a:t>
            </a:r>
          </a:p>
          <a:p>
            <a:r>
              <a:rPr lang="en-US" dirty="0"/>
              <a:t>36948</a:t>
            </a:r>
          </a:p>
          <a:p>
            <a:r>
              <a:rPr lang="en-US" dirty="0"/>
              <a:t>24tec2cs673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32128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35704" y="2848213"/>
            <a:ext cx="1085697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Introduction to Ethics in AI/ML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909012" y="3657600"/>
            <a:ext cx="8021052" cy="173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Exploring the crucial intersection of artificial intelligence and ethical considerations for a responsible future.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322" y="1149811"/>
            <a:ext cx="10683359" cy="51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is Artificial Intelligence and Machine Learning?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056322" y="2126136"/>
            <a:ext cx="6481882" cy="112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Artificial Intelligence (AI) encompasses computer systems designed to </a:t>
            </a:r>
            <a:r>
              <a:rPr lang="en-US" sz="2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 human intelligence</a:t>
            </a:r>
            <a:r>
              <a:rPr lang="en-US" sz="2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enabling machines to perform tasks traditionally requiring human cognitive abilities. These tasks include understanding language, recognizing images, and making decisions.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6322" y="4538424"/>
            <a:ext cx="6481882" cy="847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(ML), a critical </a:t>
            </a:r>
            <a:r>
              <a:rPr lang="en-US" sz="2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subset of AI</a:t>
            </a:r>
            <a:r>
              <a:rPr lang="en-US" sz="2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focuses on systems that learn patterns from vast amounts of data to improve their performance over time without explicit programming.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204" y="1973179"/>
            <a:ext cx="6352624" cy="5518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934" y="8347115"/>
            <a:ext cx="1339453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Common applications range from smart assistants like Siri and Alexa, to sophisticated facial recognition systems, and advanced autonomous vehicles.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471" y="1181100"/>
            <a:ext cx="6472357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Why Ethics Matter in AI/ML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22471" y="2097881"/>
            <a:ext cx="3746302" cy="2206943"/>
          </a:xfrm>
          <a:prstGeom prst="roundRect">
            <a:avLst>
              <a:gd name="adj" fmla="val 49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11" y="2097881"/>
            <a:ext cx="91440" cy="22069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247" y="2327077"/>
            <a:ext cx="2428518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 Impacts Billions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020247" y="2754511"/>
            <a:ext cx="3219331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systems are embedded in critical sectors like healthcare, justice, employment, and social media, affecting daily lives on a global scale.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675108" y="2097881"/>
            <a:ext cx="3746421" cy="2206943"/>
          </a:xfrm>
          <a:prstGeom prst="roundRect">
            <a:avLst>
              <a:gd name="adj" fmla="val 497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248" y="2097881"/>
            <a:ext cx="91440" cy="2206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72883" y="2327077"/>
            <a:ext cx="2428518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Potential for Harm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4972883" y="2754511"/>
            <a:ext cx="3219450" cy="132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Unethical AI can lead to significant societal damage, including algorithmic bias, privacy violations, and discriminatory decisions.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22471" y="4511159"/>
            <a:ext cx="3746302" cy="2537222"/>
          </a:xfrm>
          <a:prstGeom prst="roundRect">
            <a:avLst>
              <a:gd name="adj" fmla="val 432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DABADD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1" y="4511159"/>
            <a:ext cx="91440" cy="25372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0247" y="4740354"/>
            <a:ext cx="2428518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Build Trust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020247" y="5167789"/>
            <a:ext cx="3219331" cy="1651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5B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"With great power comes great responsibility."</a:t>
            </a: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Establishing trust in AI systems is paramount for their widespread acceptance and beneficial integration into society.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193" y="626150"/>
            <a:ext cx="7101959" cy="653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Ethical Principles in AI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193" y="1724739"/>
            <a:ext cx="555784" cy="555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8193" y="2558415"/>
            <a:ext cx="2615803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Fairness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78193" y="3018711"/>
            <a:ext cx="4172664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Ensuring AI algorithms avoid bias and do not discriminate against individuals or groups, providing equitable outcomes for all users.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8749" y="1724739"/>
            <a:ext cx="555784" cy="555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8749" y="2558415"/>
            <a:ext cx="2615803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Transparency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228749" y="3018711"/>
            <a:ext cx="4172783" cy="142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Making AI decisions comprehensible and interpretable, allowing users and regulators to understand how and why an AI system reaches a particular conclusion.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9424" y="1724739"/>
            <a:ext cx="555784" cy="5557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424" y="2558415"/>
            <a:ext cx="2615803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Privacy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679424" y="3018711"/>
            <a:ext cx="4172664" cy="142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Safeguarding personal data, ensuring proper consent, and protecting individuals' information from unauthorized access or misuse by AI systems.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193" y="4886444"/>
            <a:ext cx="555784" cy="5557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8193" y="5720120"/>
            <a:ext cx="2615803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Accountability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78193" y="6180415"/>
            <a:ext cx="4172664" cy="142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Clearly defining responsibility for the impacts and potential errors of AI systems, establishing mechanisms for redress and oversight.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8749" y="4886444"/>
            <a:ext cx="555784" cy="5557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28749" y="5720120"/>
            <a:ext cx="2615803" cy="326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Safety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5228749" y="6180415"/>
            <a:ext cx="4172783" cy="142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Designing and deploying AI systems to operate reliably and securely, preventing unintended harm to humans or the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8664"/>
            <a:ext cx="1025140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Ethical Theories Guiding AI Decisions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53195" y="33661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Utilitarianism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61673"/>
            <a:ext cx="373165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Focuses on maximizing overall societal well-being and happiness for the greatest number of people.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1921431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9146" y="4009430"/>
            <a:ext cx="358140" cy="3581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19513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Deontology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1243" y="2446853"/>
            <a:ext cx="38514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Emphasizes moral duties and adherence to universal rules, regardless of the consequences, such as truthfulness and respect for rights.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131" y="1921431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9563" y="2635091"/>
            <a:ext cx="358140" cy="3581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439793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Virtue Ethics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1243" y="4893469"/>
            <a:ext cx="3851434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Centers on the character of the moral agent, promoting virtues like honesty, compassion, and integrity in AI development and deployment.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1921431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9563" y="5383649"/>
            <a:ext cx="358140" cy="3581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37724" y="672476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theory provides all answers; AI ethics often requires a thoughtful balancing act between these foundational perspectives to navigate complex moral dilemmas.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741" y="616506"/>
            <a:ext cx="10002560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Real-World Ethical Challenges in AI/ML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84741" y="1813798"/>
            <a:ext cx="7617738" cy="107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Algorithmic Bias: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Healthcare algorithms have been found to disadvantage minority groups, leading to under-assessment and inadequate care for Black patients.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4741" y="2968109"/>
            <a:ext cx="7617738" cy="107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Lethal Autonomous Weapons: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development of AI-powered weapons raises profound moral questions about machines making life-or-death decisions without human intervention.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4741" y="4122420"/>
            <a:ext cx="7617738" cy="107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Job Displacement: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Automation, driven by AI, poses challenges to employment and can exacerbate economic inequality, requiring new policy approaches.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4741" y="5276731"/>
            <a:ext cx="7617738" cy="717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Privacy Erosion:</a:t>
            </a: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pervasive nature of surveillance capitalism, particularly on social media platforms, threatens individual privacy and data sovereignty.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072" y="1864281"/>
            <a:ext cx="4896088" cy="4896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4741" y="7264718"/>
            <a:ext cx="13060918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challenges underscore the urgent need for proactive ethical frameworks and regulations in the rapidly evolving AI landscape.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816" y="641033"/>
            <a:ext cx="12998768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Study: Cambridge Analytica and Voter Manipulation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6" y="2623899"/>
            <a:ext cx="4858226" cy="48582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0305" y="2571512"/>
            <a:ext cx="7571780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the 2016 US election, Cambridge Analytica utilized </a:t>
            </a: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AI-driven data analytics</a:t>
            </a: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create detailed psychological profiles of voters, enabling highly targeted political advertising.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50305" y="3900011"/>
            <a:ext cx="7571780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incident ignited widespread concerns regarding the ethical boundaries of data privacy, user consent, and the potential for </a:t>
            </a: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manipulation in democratic processes</a:t>
            </a: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50305" y="5228511"/>
            <a:ext cx="7571780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case served as a stark reminder of the critical need for robust ethical oversight in the application of AI technologies, especially within political campaigning and public discourse.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9223" y="823317"/>
            <a:ext cx="7419142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Global Efforts to Govern AI Ethics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69223" y="1689854"/>
            <a:ext cx="7778353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international community is actively working to establish guidelines for responsible AI development.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69223" y="2826306"/>
            <a:ext cx="3791664" cy="2358271"/>
          </a:xfrm>
          <a:prstGeom prst="roundRect">
            <a:avLst>
              <a:gd name="adj" fmla="val 465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G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223" y="2803446"/>
            <a:ext cx="3791664" cy="914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533650"/>
            <a:ext cx="585311" cy="5853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48017" y="2679978"/>
            <a:ext cx="23407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387108" y="3313986"/>
            <a:ext cx="3355896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UNESCO's 2021 Recommendation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387108" y="4004905"/>
            <a:ext cx="3355896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first global standard on the Ethics of AI, adopted by 193 member states, provides a comprehensive framework.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10155912" y="2826306"/>
            <a:ext cx="3791664" cy="2358271"/>
          </a:xfrm>
          <a:prstGeom prst="roundRect">
            <a:avLst>
              <a:gd name="adj" fmla="val 465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G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912" y="2803446"/>
            <a:ext cx="3791664" cy="9144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9089" y="2533650"/>
            <a:ext cx="585311" cy="58531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934706" y="2679978"/>
            <a:ext cx="23407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0373797" y="3313986"/>
            <a:ext cx="2295406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Core Values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0373797" y="3717965"/>
            <a:ext cx="3355896" cy="124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Emphasizes human rights, fairness, inclusiveness, environmental sustainability, and well-being as foundational principles.</a:t>
            </a:r>
            <a:endParaRPr lang="en-US" sz="1500" dirty="0"/>
          </a:p>
        </p:txBody>
      </p:sp>
      <p:sp>
        <p:nvSpPr>
          <p:cNvPr id="17" name="Shape 10"/>
          <p:cNvSpPr/>
          <p:nvPr/>
        </p:nvSpPr>
        <p:spPr>
          <a:xfrm>
            <a:off x="6169223" y="5672257"/>
            <a:ext cx="7778353" cy="1733907"/>
          </a:xfrm>
          <a:prstGeom prst="roundRect">
            <a:avLst>
              <a:gd name="adj" fmla="val 632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G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223" y="5649397"/>
            <a:ext cx="7778353" cy="9144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44" y="5379601"/>
            <a:ext cx="585311" cy="58531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941362" y="5525929"/>
            <a:ext cx="234077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6387108" y="6159937"/>
            <a:ext cx="3579495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Multi-Stakeholder Collaboration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6387108" y="6563916"/>
            <a:ext cx="7342584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Stresses the importance of collective action from governments, companies, academia, and civil society in shaping ethical AI.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98327"/>
            <a:ext cx="120991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Industry Responses and AI Codes of Conduct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176701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Leading technology companies, including Google, IBM, and Meta, have established </a:t>
            </a: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dedicated ethics teams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developed internal guidelines for AI development.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41157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</a:t>
            </a: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bias mitigation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data and algorithms.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007882"/>
            <a:ext cx="753939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Commitment to enhancing </a:t>
            </a: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transparency and explainability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AI systems.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857631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Emphasis on </a:t>
            </a: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responsible AI deployment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impact assessment.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56039"/>
            <a:ext cx="753939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Despite these efforts, significant challenges persist in areas such as global regulatory harmonization, effective enforcement mechanisms, and adapting to the rapid pace of technological evolution.</a:t>
            </a:r>
            <a:endParaRPr lang="en-US" sz="1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21" y="2230517"/>
            <a:ext cx="4831556" cy="4831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230" y="758071"/>
            <a:ext cx="7678341" cy="123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D73AD7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Future of AI Ethics: Emerging Issues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219230" y="2303621"/>
            <a:ext cx="3734514" cy="2515433"/>
          </a:xfrm>
          <a:prstGeom prst="roundRect">
            <a:avLst>
              <a:gd name="adj" fmla="val 19977"/>
            </a:avLst>
          </a:prstGeom>
          <a:solidFill>
            <a:srgbClr val="D75BE2"/>
          </a:solidFill>
          <a:ln w="7620">
            <a:solidFill>
              <a:srgbClr val="BD41C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5" name="Text 2"/>
          <p:cNvSpPr/>
          <p:nvPr/>
        </p:nvSpPr>
        <p:spPr>
          <a:xfrm>
            <a:off x="6436162" y="2520553"/>
            <a:ext cx="3239095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Artificial Superintelligence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36162" y="2954060"/>
            <a:ext cx="330065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the "value alignment problem" to ensure future superintelligent AI systems operate in humanity's best interest.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3056" y="2303621"/>
            <a:ext cx="3734514" cy="2515433"/>
          </a:xfrm>
          <a:prstGeom prst="roundRect">
            <a:avLst>
              <a:gd name="adj" fmla="val 19977"/>
            </a:avLst>
          </a:prstGeom>
          <a:solidFill>
            <a:srgbClr val="D75BE2"/>
          </a:solidFill>
          <a:ln w="7620">
            <a:solidFill>
              <a:srgbClr val="BD41C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8" name="Text 5"/>
          <p:cNvSpPr/>
          <p:nvPr/>
        </p:nvSpPr>
        <p:spPr>
          <a:xfrm>
            <a:off x="10379988" y="2520553"/>
            <a:ext cx="3300651" cy="61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Synthetic Media &amp; Misinformation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79988" y="3261955"/>
            <a:ext cx="330065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Combating the growing risks of deepfakes and AI-generated content used for propaganda and disinformation campaigns.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230" y="5028367"/>
            <a:ext cx="7678341" cy="1537454"/>
          </a:xfrm>
          <a:prstGeom prst="roundRect">
            <a:avLst>
              <a:gd name="adj" fmla="val 32685"/>
            </a:avLst>
          </a:prstGeom>
          <a:solidFill>
            <a:srgbClr val="D75BE2"/>
          </a:solidFill>
          <a:ln w="7620">
            <a:solidFill>
              <a:srgbClr val="BD41C8"/>
            </a:solidFill>
            <a:prstDash val="solid"/>
          </a:ln>
        </p:spPr>
        <p:txBody>
          <a:bodyPr/>
          <a:lstStyle/>
          <a:p>
            <a:endParaRPr lang="en-UG"/>
          </a:p>
        </p:txBody>
      </p:sp>
      <p:sp>
        <p:nvSpPr>
          <p:cNvPr id="11" name="Text 8"/>
          <p:cNvSpPr/>
          <p:nvPr/>
        </p:nvSpPr>
        <p:spPr>
          <a:xfrm>
            <a:off x="6436162" y="5245298"/>
            <a:ext cx="4170998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Balancing Innovation &amp; Safeguards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36162" y="5678805"/>
            <a:ext cx="724447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Finding the delicate equilibrium between fostering rapid AI advancement and implementing necessary ethical and safety regulations.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19230" y="6801326"/>
            <a:ext cx="767834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 dialogue, robust education, and proactive policy-making will be critical to navigate the complex ethical landscape of future AI development.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E2E8-2DC0-E89B-2054-C78BDED0E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020" y="3332480"/>
            <a:ext cx="11521435" cy="1564640"/>
          </a:xfrm>
        </p:spPr>
        <p:txBody>
          <a:bodyPr/>
          <a:lstStyle/>
          <a:p>
            <a:r>
              <a:rPr lang="en-US" dirty="0"/>
              <a:t>THANK YOU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725094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921</Words>
  <Application>Microsoft Office PowerPoint</Application>
  <PresentationFormat>Custom</PresentationFormat>
  <Paragraphs>83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Source Serif 4 Semi Bold</vt:lpstr>
      <vt:lpstr>Source Sans 3</vt:lpstr>
      <vt:lpstr>Arial</vt:lpstr>
      <vt:lpstr>Garamond</vt:lpstr>
      <vt:lpstr>Organic</vt:lpstr>
      <vt:lpstr>A presentation on Ethics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lastModifiedBy>khuse javat</cp:lastModifiedBy>
  <cp:revision>2</cp:revision>
  <dcterms:created xsi:type="dcterms:W3CDTF">2025-11-15T16:09:06Z</dcterms:created>
  <dcterms:modified xsi:type="dcterms:W3CDTF">2025-11-15T16:17:10Z</dcterms:modified>
</cp:coreProperties>
</file>